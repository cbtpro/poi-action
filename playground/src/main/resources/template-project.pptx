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905000"/>
            <a:ext cx="9652000" cy="889000"/>
          </a:xfrm>
          <a:prstGeom prst="rect">
            <a:avLst/>
          </a:prstGeom>
          <a:noFill/>
          <a:ln>
            <a:noFill/>
          </a:ln>
        </p:spPr>
        <p:txBody>
          <a:bodyPr anchor="t" rtlCol="false" wrap="square"/>
          <a:lstStyle/>
          <a:p>
            <a:pPr algn="l">
              <a:defRPr/>
            </a:pPr>
            <a:r>
              <a:rPr lang="en-US" sz="3600" b="true">
                <a:solidFill>
                  <a:srgbClr val="1F4E79"/>
                </a:solidFill>
                <a:latin typeface="微软雅黑"/>
              </a:rPr>
              <a:t>${report.title}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1524000" y="298450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="t" rtlCol="false" wrap="square"/>
          <a:lstStyle/>
          <a:p>
            <a:pPr algn="l">
              <a:defRPr/>
            </a:pPr>
            <a:r>
              <a:rPr lang="en-US" sz="2000" b="false">
                <a:solidFill>
                  <a:srgbClr val="595959"/>
                </a:solidFill>
                <a:ea typeface="微软雅黑"/>
              </a:rPr>
              <a:t>客户：${customer.name}｜区域：${report.region}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4445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 wrap="square"/>
          <a:lstStyle/>
          <a:p>
            <a:pPr algn="l">
              <a:defRPr/>
            </a:pPr>
            <a:r>
              <a:rPr lang="en-US" sz="2800" b="true">
                <a:solidFill>
                  <a:srgbClr val="1F4E79"/>
                </a:solidFill>
                <a:ea typeface="微软雅黑"/>
              </a:rPr>
              <a:t>经营亮点</a:t>
            </a:r>
            <a:endParaRPr lang="zh-CN"/>
          </a:p>
        </p:txBody>
      </p:sp>
      <p:sp>
        <p:nvSpPr>
          <p:cNvPr name="AutoShape 3" id="3"/>
          <p:cNvSpPr/>
          <p:nvPr/>
        </p:nvSpPr>
        <p:spPr>
          <a:xfrm>
            <a:off x="762000" y="1206500"/>
            <a:ext cx="10668000" cy="3810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1524000" y="1714500"/>
            <a:ext cx="9144000" cy="3810000"/>
          </a:xfrm>
          <a:prstGeom prst="rect">
            <a:avLst/>
          </a:prstGeom>
          <a:noFill/>
          <a:ln>
            <a:noFill/>
          </a:ln>
        </p:spPr>
        <p:txBody>
          <a:bodyPr anchor="t" rtlCol="false" wrap="square" lIns="101600" tIns="101600"/>
          <a:lstStyle/>
          <a:p>
            <a:pPr algn="l">
              <a:defRPr/>
            </a:pPr>
            <a:r>
              <a:rPr lang="en-US" sz="2000" b="false">
                <a:solidFill>
                  <a:srgbClr val="404040"/>
                </a:solidFill>
                <a:latin typeface="微软雅黑"/>
              </a:rPr>
              <a:t>• ${highlights.name}</a:t>
            </a:r>
          </a:p>
          <a:p>
            <a:pPr algn="l">
              <a:defRPr/>
            </a:pPr>
            <a:r>
              <a:rPr lang="en-US"/>
              <a:t>• 阶段备注：${report.note}</a:t>
            </a:r>
          </a:p>
          <a:p>
            <a:pPr algn="l">
              <a:defRPr/>
            </a:pPr>
            <a:r>
              <a:rPr lang="en-US"/>
              <a:t>• 缺失字段会保留：${missing}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444500"/>
            <a:ext cx="10668000" cy="698500"/>
          </a:xfrm>
          <a:prstGeom prst="rect">
            <a:avLst/>
          </a:prstGeom>
          <a:noFill/>
          <a:ln>
            <a:noFill/>
          </a:ln>
        </p:spPr>
        <p:txBody>
          <a:bodyPr anchor="t" rtlCol="false" wrap="square"/>
          <a:lstStyle/>
          <a:p>
            <a:pPr algn="l">
              <a:defRPr/>
            </a:pPr>
            <a:r>
              <a:rPr lang="en-US" sz="2800" b="true">
                <a:solidFill>
                  <a:srgbClr val="1F4E79"/>
                </a:solidFill>
                <a:ea typeface="微软雅黑"/>
              </a:rPr>
              <a:t>项目指标</a:t>
            </a:r>
            <a:endParaRPr lang="zh-CN"/>
          </a:p>
        </p:txBody>
      </p:sp>
      <p:sp>
        <p:nvSpPr>
          <p:cNvPr name="AutoShape 3" id="3"/>
          <p:cNvSpPr/>
          <p:nvPr/>
        </p:nvSpPr>
        <p:spPr>
          <a:xfrm>
            <a:off x="762000" y="1206500"/>
            <a:ext cx="10668000" cy="3810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43000" y="1714500"/>
          <a:ext cx="9906000" cy="1828800"/>
        </p:xfrm>
        <a:graphic>
          <a:graphicData uri="http://schemas.openxmlformats.org/drawingml/2006/table">
            <a:tbl>
              <a:tblPr/>
              <a:tblGrid>
                <a:gridCol w="3302000"/>
                <a:gridCol w="3302000"/>
                <a:gridCol w="3302000"/>
              </a:tblGrid>
              <a:tr h="4572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ea typeface="微软雅黑"/>
                        </a:rPr>
                        <a:t>指标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ea typeface="微软雅黑"/>
                        </a:rPr>
                        <a:t>本期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ea typeface="微软雅黑"/>
                        </a:rPr>
                        <a:t>状态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ea typeface="微软雅黑"/>
                        </a:rPr>
                        <a:t>收入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latin typeface="微软雅黑"/>
                        </a:rPr>
                        <a:t>${metrics.revenue}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latin typeface="微软雅黑"/>
                        </a:rPr>
                        <a:t>${metrics.revenueStatus}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ea typeface="微软雅黑"/>
                        </a:rPr>
                        <a:t>续约率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latin typeface="微软雅黑"/>
                        </a:rPr>
                        <a:t>${metrics.renewalRate}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latin typeface="微软雅黑"/>
                        </a:rPr>
                        <a:t>${metrics.renewalStatus}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ea typeface="微软雅黑"/>
                        </a:rPr>
                        <a:t>交付健康度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latin typeface="微软雅黑"/>
                        </a:rPr>
                        <a:t>${metrics.deliveryHealth}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sz="1200" b="false">
                          <a:solidFill>
                            <a:srgbClr val="404040"/>
                          </a:solidFill>
                          <a:latin typeface="微软雅黑"/>
                        </a:rPr>
                        <a:t>${metrics.deliveryStatus}</a:t>
                      </a:r>
                      <a:endParaRPr lang="en-US" sz="1100"/>
                    </a:p>
                  </a:txBody>
                  <a:tcPr anchor="ctr" marT="50800" marL="76200" marR="76200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